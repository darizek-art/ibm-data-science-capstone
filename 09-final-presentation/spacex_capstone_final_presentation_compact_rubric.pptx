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85983d2b4441fd" /><Relationship Type="http://schemas.openxmlformats.org/officeDocument/2006/relationships/extended-properties" Target="/docProps/app.xml" Id="R756a446854e047f3" /><Relationship Type="http://schemas.openxmlformats.org/officeDocument/2006/relationships/officeDocument" Target="/ppt/presentation.xml" Id="R5a9d6a640ee246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519293ef424498"/>
  </p:sldMasterIdLst>
  <p:notesMasterIdLst>
    <p:notesMasterId xmlns:r="http://schemas.openxmlformats.org/officeDocument/2006/relationships" r:id="Rf8416a2e94524ad6"/>
  </p:notesMasterIdLst>
  <p:sldIdLst>
    <p:sldId xmlns:r="http://schemas.openxmlformats.org/officeDocument/2006/relationships" id="256" r:id="R79c56aaf758849bf"/>
    <p:sldId xmlns:r="http://schemas.openxmlformats.org/officeDocument/2006/relationships" id="257" r:id="R8035856a3f09428d"/>
    <p:sldId xmlns:r="http://schemas.openxmlformats.org/officeDocument/2006/relationships" id="258" r:id="R44f98ed3ce904b5f"/>
    <p:sldId xmlns:r="http://schemas.openxmlformats.org/officeDocument/2006/relationships" id="259" r:id="Ra51063724d3e4732"/>
    <p:sldId xmlns:r="http://schemas.openxmlformats.org/officeDocument/2006/relationships" id="260" r:id="Ra3be82c440e342a1"/>
    <p:sldId xmlns:r="http://schemas.openxmlformats.org/officeDocument/2006/relationships" id="261" r:id="Rabccfa1bf387412d"/>
    <p:sldId xmlns:r="http://schemas.openxmlformats.org/officeDocument/2006/relationships" id="262" r:id="Rfa25df310d314a0e"/>
    <p:sldId xmlns:r="http://schemas.openxmlformats.org/officeDocument/2006/relationships" id="263" r:id="R8da9b42f1cf04606"/>
    <p:sldId xmlns:r="http://schemas.openxmlformats.org/officeDocument/2006/relationships" id="264" r:id="R10668180c4ea46f4"/>
    <p:sldId xmlns:r="http://schemas.openxmlformats.org/officeDocument/2006/relationships" id="265" r:id="Rec1f85869a8e4209"/>
    <p:sldId xmlns:r="http://schemas.openxmlformats.org/officeDocument/2006/relationships" id="266" r:id="R914592b3120845a2"/>
    <p:sldId xmlns:r="http://schemas.openxmlformats.org/officeDocument/2006/relationships" id="267" r:id="R5d81a1fae67a4901"/>
    <p:sldId xmlns:r="http://schemas.openxmlformats.org/officeDocument/2006/relationships" id="268" r:id="R523e353864154e35"/>
    <p:sldId xmlns:r="http://schemas.openxmlformats.org/officeDocument/2006/relationships" id="269" r:id="Rbac9686d97284ae0"/>
    <p:sldId xmlns:r="http://schemas.openxmlformats.org/officeDocument/2006/relationships" id="270" r:id="R7342a30c29b6488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afe70769144c9a" /><Relationship Type="http://schemas.openxmlformats.org/officeDocument/2006/relationships/slideMaster" Target="/ppt/slideMasters/slideMaster1.xml" Id="R38519293ef424498" /><Relationship Type="http://schemas.openxmlformats.org/officeDocument/2006/relationships/notesMaster" Target="/ppt/notesMasters/notesMaster1.xml" Id="Rf8416a2e94524ad6" /><Relationship Type="http://schemas.openxmlformats.org/officeDocument/2006/relationships/presProps" Target="/ppt/presProps.xml" Id="R7264b36a11ab4f36" /><Relationship Type="http://schemas.openxmlformats.org/officeDocument/2006/relationships/viewProps" Target="/ppt/viewProps.xml" Id="Red7d01a1afa34b6b" /><Relationship Type="http://schemas.openxmlformats.org/officeDocument/2006/relationships/tableStyles" Target="/ppt/tableStyles.xml" Id="Red148a611164455a" /><Relationship Type="http://schemas.openxmlformats.org/officeDocument/2006/relationships/slide" Target="/ppt/slides/slide1.xml" Id="R79c56aaf758849bf" /><Relationship Type="http://schemas.openxmlformats.org/officeDocument/2006/relationships/slide" Target="/ppt/slides/slide2.xml" Id="R8035856a3f09428d" /><Relationship Type="http://schemas.openxmlformats.org/officeDocument/2006/relationships/slide" Target="/ppt/slides/slide3.xml" Id="R44f98ed3ce904b5f" /><Relationship Type="http://schemas.openxmlformats.org/officeDocument/2006/relationships/slide" Target="/ppt/slides/slide4.xml" Id="Ra51063724d3e4732" /><Relationship Type="http://schemas.openxmlformats.org/officeDocument/2006/relationships/slide" Target="/ppt/slides/slide5.xml" Id="Ra3be82c440e342a1" /><Relationship Type="http://schemas.openxmlformats.org/officeDocument/2006/relationships/slide" Target="/ppt/slides/slide6.xml" Id="Rabccfa1bf387412d" /><Relationship Type="http://schemas.openxmlformats.org/officeDocument/2006/relationships/slide" Target="/ppt/slides/slide7.xml" Id="Rfa25df310d314a0e" /><Relationship Type="http://schemas.openxmlformats.org/officeDocument/2006/relationships/slide" Target="/ppt/slides/slide8.xml" Id="R8da9b42f1cf04606" /><Relationship Type="http://schemas.openxmlformats.org/officeDocument/2006/relationships/slide" Target="/ppt/slides/slide9.xml" Id="R10668180c4ea46f4" /><Relationship Type="http://schemas.openxmlformats.org/officeDocument/2006/relationships/slide" Target="/ppt/slides/slide10.xml" Id="Rec1f85869a8e4209" /><Relationship Type="http://schemas.openxmlformats.org/officeDocument/2006/relationships/slide" Target="/ppt/slides/slide11.xml" Id="R914592b3120845a2" /><Relationship Type="http://schemas.openxmlformats.org/officeDocument/2006/relationships/slide" Target="/ppt/slides/slide12.xml" Id="R5d81a1fae67a4901" /><Relationship Type="http://schemas.openxmlformats.org/officeDocument/2006/relationships/slide" Target="/ppt/slides/slide13.xml" Id="R523e353864154e35" /><Relationship Type="http://schemas.openxmlformats.org/officeDocument/2006/relationships/slide" Target="/ppt/slides/slide14.xml" Id="Rbac9686d97284ae0" /><Relationship Type="http://schemas.openxmlformats.org/officeDocument/2006/relationships/slide" Target="/ppt/slides/slide15.xml" Id="R7342a30c29b648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6d05c43fec4c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4ae2638ebf4288" /><Relationship Type="http://schemas.openxmlformats.org/officeDocument/2006/relationships/notesMaster" Target="/ppt/notesMasters/notesMaster1.xml" Id="Ra387aea1deb345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16454b692544a3" /><Relationship Type="http://schemas.openxmlformats.org/officeDocument/2006/relationships/notesMaster" Target="/ppt/notesMasters/notesMaster1.xml" Id="R27fa3d83665347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ef0c4bd7904a6e" /><Relationship Type="http://schemas.openxmlformats.org/officeDocument/2006/relationships/notesMaster" Target="/ppt/notesMasters/notesMaster1.xml" Id="R804c6fe9123145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c639a0f05c4d02" /><Relationship Type="http://schemas.openxmlformats.org/officeDocument/2006/relationships/notesMaster" Target="/ppt/notesMasters/notesMaster1.xml" Id="Ra30bc97c78ce45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9609ec42f64743" /><Relationship Type="http://schemas.openxmlformats.org/officeDocument/2006/relationships/notesMaster" Target="/ppt/notesMasters/notesMaster1.xml" Id="R0bdbc9bf902945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2b71d352194a4d" /><Relationship Type="http://schemas.openxmlformats.org/officeDocument/2006/relationships/notesMaster" Target="/ppt/notesMasters/notesMaster1.xml" Id="R1c257665568946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b793c733c34f97" /><Relationship Type="http://schemas.openxmlformats.org/officeDocument/2006/relationships/notesMaster" Target="/ppt/notesMasters/notesMaster1.xml" Id="R85528075619c48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73b0a62345489b" /><Relationship Type="http://schemas.openxmlformats.org/officeDocument/2006/relationships/notesMaster" Target="/ppt/notesMasters/notesMaster1.xml" Id="Rdd481a71d6cc4a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87ac26cecc409b" /><Relationship Type="http://schemas.openxmlformats.org/officeDocument/2006/relationships/notesMaster" Target="/ppt/notesMasters/notesMaster1.xml" Id="R2f865b213f4542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48bb34113a45b1" /><Relationship Type="http://schemas.openxmlformats.org/officeDocument/2006/relationships/notesMaster" Target="/ppt/notesMasters/notesMaster1.xml" Id="Rcdbde13c933b4f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070806bdf54041" /><Relationship Type="http://schemas.openxmlformats.org/officeDocument/2006/relationships/notesMaster" Target="/ppt/notesMasters/notesMaster1.xml" Id="R0478f7c4c0ba4a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f5202660fe4ab5" /><Relationship Type="http://schemas.openxmlformats.org/officeDocument/2006/relationships/notesMaster" Target="/ppt/notesMasters/notesMaster1.xml" Id="Red713c9a1e514f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782f5d6c43474c" /><Relationship Type="http://schemas.openxmlformats.org/officeDocument/2006/relationships/notesMaster" Target="/ppt/notesMasters/notesMaster1.xml" Id="R07149410294e4f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aff848b2ca4460" /><Relationship Type="http://schemas.openxmlformats.org/officeDocument/2006/relationships/notesMaster" Target="/ppt/notesMasters/notesMaster1.xml" Id="Rbf5ce60dd5d646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efcf6ffad241b4" /><Relationship Type="http://schemas.openxmlformats.org/officeDocument/2006/relationships/notesMaster" Target="/ppt/notesMasters/notesMaster1.xml" Id="Rd4764ed7d10a43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4281930f243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ee909db5b847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f7b895e35e44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514d8f5ea044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12e0fee36846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20d5a33bd472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8412c584184f1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1c157cee0e48b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eed43d6fd459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dee72d706545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4310b607964b2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b22384388423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ffd9efe7f54e51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0">
  <p:cSld name="1_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143833A4-0BA8-4893-90F5-2490ED19807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8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3D34E64-B344-4CDD-89AE-B43FBEF373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d34652ab05464e" /><Relationship Type="http://schemas.openxmlformats.org/officeDocument/2006/relationships/slideLayout" Target="/ppt/slideLayouts/slideLayout1.xml" Id="R214e852048664824" /><Relationship Type="http://schemas.openxmlformats.org/officeDocument/2006/relationships/slideLayout" Target="/ppt/slideLayouts/slideLayout2.xml" Id="Rb96f5089d39547a7" /><Relationship Type="http://schemas.openxmlformats.org/officeDocument/2006/relationships/slideLayout" Target="/ppt/slideLayouts/slideLayout3.xml" Id="R7105ba738be64796" /><Relationship Type="http://schemas.openxmlformats.org/officeDocument/2006/relationships/slideLayout" Target="/ppt/slideLayouts/slideLayout4.xml" Id="Rbf6a29d76e874115" /><Relationship Type="http://schemas.openxmlformats.org/officeDocument/2006/relationships/slideLayout" Target="/ppt/slideLayouts/slideLayout5.xml" Id="R15852da9857647e4" /><Relationship Type="http://schemas.openxmlformats.org/officeDocument/2006/relationships/slideLayout" Target="/ppt/slideLayouts/slideLayout6.xml" Id="R465c4e37e9ce45f7" /><Relationship Type="http://schemas.openxmlformats.org/officeDocument/2006/relationships/slideLayout" Target="/ppt/slideLayouts/slideLayout7.xml" Id="R6a6603bc80024a4b" /><Relationship Type="http://schemas.openxmlformats.org/officeDocument/2006/relationships/slideLayout" Target="/ppt/slideLayouts/slideLayout8.xml" Id="Rc8531f3b985244c9" /><Relationship Type="http://schemas.openxmlformats.org/officeDocument/2006/relationships/slideLayout" Target="/ppt/slideLayouts/slideLayout9.xml" Id="R37359997ba884f41" /><Relationship Type="http://schemas.openxmlformats.org/officeDocument/2006/relationships/slideLayout" Target="/ppt/slideLayouts/slideLayout10.xml" Id="Readdca8fc6c64c00" /><Relationship Type="http://schemas.openxmlformats.org/officeDocument/2006/relationships/slideLayout" Target="/ppt/slideLayouts/slideLayout11.xml" Id="Raa9ec8c3a77642b5" /><Relationship Type="http://schemas.openxmlformats.org/officeDocument/2006/relationships/slideLayout" Target="/ppt/slideLayouts/slideLayout12.xml" Id="R1b7548c4ce564e27" /><Relationship Type="http://schemas.openxmlformats.org/officeDocument/2006/relationships/slideLayout" Target="/ppt/slideLayouts/slideLayout13.xml" Id="R90d1337b73c0450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14772" y="6025573"/>
            <a:ext cx="2743200" cy="4016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600">
                <a:solidFill>
                  <a:srgbClr val="1C7DDB"/>
                </a:solidFill>
                <a:latin typeface="Abadi"/>
                <a:ea typeface="Abadi"/>
                <a:cs typeface="Abadi"/>
              </a:defRPr>
            </a:lvl1pPr>
          </a:lstStyle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4e852048664824"/>
    <p:sldLayoutId xmlns:r="http://schemas.openxmlformats.org/officeDocument/2006/relationships" id="2147483650" r:id="Rb96f5089d39547a7"/>
    <p:sldLayoutId xmlns:r="http://schemas.openxmlformats.org/officeDocument/2006/relationships" id="2147483651" r:id="R7105ba738be64796"/>
    <p:sldLayoutId xmlns:r="http://schemas.openxmlformats.org/officeDocument/2006/relationships" id="2147483652" r:id="Rbf6a29d76e874115"/>
    <p:sldLayoutId xmlns:r="http://schemas.openxmlformats.org/officeDocument/2006/relationships" id="2147483653" r:id="R15852da9857647e4"/>
    <p:sldLayoutId xmlns:r="http://schemas.openxmlformats.org/officeDocument/2006/relationships" id="2147483654" r:id="R465c4e37e9ce45f7"/>
    <p:sldLayoutId xmlns:r="http://schemas.openxmlformats.org/officeDocument/2006/relationships" id="2147483655" r:id="R6a6603bc80024a4b"/>
    <p:sldLayoutId xmlns:r="http://schemas.openxmlformats.org/officeDocument/2006/relationships" id="2147483656" r:id="Rc8531f3b985244c9"/>
    <p:sldLayoutId xmlns:r="http://schemas.openxmlformats.org/officeDocument/2006/relationships" id="2147483657" r:id="R37359997ba884f41"/>
    <p:sldLayoutId xmlns:r="http://schemas.openxmlformats.org/officeDocument/2006/relationships" id="2147483658" r:id="Readdca8fc6c64c00"/>
    <p:sldLayoutId xmlns:r="http://schemas.openxmlformats.org/officeDocument/2006/relationships" id="2147483659" r:id="Raa9ec8c3a77642b5"/>
    <p:sldLayoutId xmlns:r="http://schemas.openxmlformats.org/officeDocument/2006/relationships" id="2147483660" r:id="R1b7548c4ce564e27"/>
    <p:sldLayoutId xmlns:r="http://schemas.openxmlformats.org/officeDocument/2006/relationships" id="2147483661" r:id="R90d1337b73c0450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30ec4255e44c0" /><Relationship Type="http://schemas.openxmlformats.org/officeDocument/2006/relationships/image" Target="/ppt/media/image.png" Id="R0af673c33c0147e8" /><Relationship Type="http://schemas.openxmlformats.org/officeDocument/2006/relationships/notesSlide" Target="/ppt/notesSlides/notesSlide1.xml" Id="R552e9e8b538749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2319e2a6c7e4471" /><Relationship Type="http://schemas.openxmlformats.org/officeDocument/2006/relationships/image" Target="/ppt/media/image.jpeg" Id="R5a5d9560facb4720" /><Relationship Type="http://schemas.openxmlformats.org/officeDocument/2006/relationships/image" Target="/ppt/media/image2.png" Id="Rc0f0195cc2e74e99" /><Relationship Type="http://schemas.openxmlformats.org/officeDocument/2006/relationships/notesSlide" Target="/ppt/notesSlides/notesSlide2.xml" Id="Rf95d95a6cd7245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1a21c5d5a44e0" /><Relationship Type="http://schemas.openxmlformats.org/officeDocument/2006/relationships/image" Target="/ppt/media/image.png" Id="R68189e36e2564c0f" /><Relationship Type="http://schemas.openxmlformats.org/officeDocument/2006/relationships/notesSlide" Target="/ppt/notesSlides/notesSlide3.xml" Id="Rc463418878ac42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d00a901af4b73" /><Relationship Type="http://schemas.openxmlformats.org/officeDocument/2006/relationships/image" Target="/ppt/media/image.png" Id="R9413b836a9794693" /><Relationship Type="http://schemas.openxmlformats.org/officeDocument/2006/relationships/notesSlide" Target="/ppt/notesSlides/notesSlide4.xml" Id="R8c7012102ca44d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ef0deeb0848a8" /><Relationship Type="http://schemas.openxmlformats.org/officeDocument/2006/relationships/image" Target="/ppt/media/image.png" Id="R604b6a7222c14770" /><Relationship Type="http://schemas.openxmlformats.org/officeDocument/2006/relationships/notesSlide" Target="/ppt/notesSlides/notesSlide5.xml" Id="Raf17d7d89d5c4a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f4aa1cd3c478e" /><Relationship Type="http://schemas.openxmlformats.org/officeDocument/2006/relationships/image" Target="/ppt/media/image.png" Id="R64b5f3211e504b0f" /><Relationship Type="http://schemas.openxmlformats.org/officeDocument/2006/relationships/notesSlide" Target="/ppt/notesSlides/notesSlide6.xml" Id="R7b137316a57a49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6a7950e4c4360" /><Relationship Type="http://schemas.openxmlformats.org/officeDocument/2006/relationships/image" Target="/ppt/media/image.png" Id="Rfcdb889534ba4382" /><Relationship Type="http://schemas.openxmlformats.org/officeDocument/2006/relationships/notesSlide" Target="/ppt/notesSlides/notesSlide7.xml" Id="Rb15d1e6fbcbf45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ee87101f34465" /><Relationship Type="http://schemas.openxmlformats.org/officeDocument/2006/relationships/image" Target="/ppt/media/image.png" Id="Rb1846b5fa65840b3" /><Relationship Type="http://schemas.openxmlformats.org/officeDocument/2006/relationships/image" Target="/ppt/media/image3.png" Id="R0339272b56ea4b2c" /><Relationship Type="http://schemas.openxmlformats.org/officeDocument/2006/relationships/notesSlide" Target="/ppt/notesSlides/notesSlide8.xml" Id="R8ee4b7e1c72c47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46b6ec1044d35" /><Relationship Type="http://schemas.openxmlformats.org/officeDocument/2006/relationships/image" Target="/ppt/media/image.png" Id="Ra2cba3f47042463b" /><Relationship Type="http://schemas.openxmlformats.org/officeDocument/2006/relationships/notesSlide" Target="/ppt/notesSlides/notesSlide9.xml" Id="Rdf0d33d82e1647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dc41509e1431e" /><Relationship Type="http://schemas.openxmlformats.org/officeDocument/2006/relationships/image" Target="/ppt/media/image.png" Id="Rf7584884652c4d5b" /><Relationship Type="http://schemas.openxmlformats.org/officeDocument/2006/relationships/image" Target="/ppt/media/image4.png" Id="R7ae0d6ae69164340" /><Relationship Type="http://schemas.openxmlformats.org/officeDocument/2006/relationships/notesSlide" Target="/ppt/notesSlides/notesSlide10.xml" Id="R4dd913b0607043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da31d7d95424c" /><Relationship Type="http://schemas.openxmlformats.org/officeDocument/2006/relationships/image" Target="/ppt/media/image.png" Id="R48783846c0034f1a" /><Relationship Type="http://schemas.openxmlformats.org/officeDocument/2006/relationships/image" Target="/ppt/media/image5.png" Id="Rc4b80b1fa0874bec" /><Relationship Type="http://schemas.openxmlformats.org/officeDocument/2006/relationships/notesSlide" Target="/ppt/notesSlides/notesSlide11.xml" Id="R3317bbfdc15344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4957cf12d425e" /><Relationship Type="http://schemas.openxmlformats.org/officeDocument/2006/relationships/image" Target="/ppt/media/image.png" Id="R62542abf56584ba9" /><Relationship Type="http://schemas.openxmlformats.org/officeDocument/2006/relationships/image" Target="/ppt/media/image6.png" Id="R440c2a4c01824296" /><Relationship Type="http://schemas.openxmlformats.org/officeDocument/2006/relationships/notesSlide" Target="/ppt/notesSlides/notesSlide12.xml" Id="R11275a51aea947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b930524324722" /><Relationship Type="http://schemas.openxmlformats.org/officeDocument/2006/relationships/image" Target="/ppt/media/image.png" Id="R18bf869e6a684876" /><Relationship Type="http://schemas.openxmlformats.org/officeDocument/2006/relationships/notesSlide" Target="/ppt/notesSlides/notesSlide13.xml" Id="R522d3469d00540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3e68ed2344214" /><Relationship Type="http://schemas.openxmlformats.org/officeDocument/2006/relationships/image" Target="/ppt/media/image.png" Id="Rdb4b02de50df4166" /><Relationship Type="http://schemas.openxmlformats.org/officeDocument/2006/relationships/image" Target="/ppt/media/image7.png" Id="Rfd3ef7c980ed4926" /><Relationship Type="http://schemas.openxmlformats.org/officeDocument/2006/relationships/notesSlide" Target="/ppt/notesSlides/notesSlide14.xml" Id="R4bdb4c5f9d314db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c7c3c40804215" /><Relationship Type="http://schemas.openxmlformats.org/officeDocument/2006/relationships/image" Target="/ppt/media/image.png" Id="Re90f5ee36cf440bf" /><Relationship Type="http://schemas.openxmlformats.org/officeDocument/2006/relationships/notesSlide" Target="/ppt/notesSlides/notesSlide15.xml" Id="R1219201908364b4a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0af673c33c0147e8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  <p:sp>
        <p:nvSpPr>
          <p:cNvPr id="5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1" y="1859522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Project artefacts include: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API and web-scraping notebooks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cleaned datasets for wrangling and EDA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SQL, Folium, and Dash analyses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classification-model notebook and results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All artefacts are organised in the project repository.</a:t>
            </a: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GitHub Repository and Completed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D2E20-4416-42DB-B355-6E5551AE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GitHub repository: https://github.com/darizek-art/ibm-data-science-capstone</a:t>
            </a: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a5d9560facb472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46" y="4568734"/>
            <a:ext cx="251460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2"/>
                </a:solidFill>
                <a:latin typeface="Abadi"/>
                <a:ea typeface="Abadi"/>
                <a:cs typeface="Abadi"/>
              </a:rPr>
              <a:t>Final PDF Presentation</a:t>
            </a:r>
          </a:p>
          <a:p xmlns:a="http://schemas.openxmlformats.org/drawingml/2006/main">
            <a:r>
              <a:rPr>
                <a:solidFill>
                  <a:schemeClr val="bg2"/>
                </a:solidFill>
                <a:latin typeface="Abadi"/>
                <a:ea typeface="Abadi"/>
                <a:cs typeface="Abadi"/>
              </a:rPr>
              <a:t>Jack • July 2026</a:t>
            </a:r>
          </a:p>
        </p:txBody>
      </p:sp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0195cc2e74e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820" y="676828"/>
            <a:ext cx="2104103" cy="62918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73D00-886E-4C2B-A6E2-624D0255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GitHub repository: https://github.com/darizek-art/ibm-data-science-capstone</a:t>
            </a:r>
          </a:p>
        </p:txBody>
      </p:sp>
    </p:spTree>
    <p:extLst>
      <p:ext uri="{BB962C8B-B14F-4D97-AF65-F5344CB8AC3E}">
        <p14:creationId xmlns:p14="http://schemas.microsoft.com/office/powerpoint/2010/main" val="1277611629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68189e36e2564c0f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202359C0-8A7A-196E-DD58-8E6569619F09}" type="slidenum">
              <a:t>3</a:t>
            </a:fld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03" y="2684972"/>
            <a:ext cx="4017889" cy="1039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4714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A data-driven assessment of Falcon 9 first-stage recovery.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Historic data show a 66.7% landing-success rate in the predictive dataset.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Three classifiers tied for the highest test accuracy: 83.3%.</a:t>
            </a:r>
          </a:p>
        </p:txBody>
      </p:sp>
      <p:sp>
        <p:nvSpPr>
          <p:cNvPr id="19" name="Title 1">
            <a:extLst xmlns:a="http://schemas.openxmlformats.org/drawingml/2006/main"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Executive Summary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69DDC-DFB9-4B4C-8B0A-194E2F90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GitHub repository: https://github.com/darizek-art/ibm-data-science-capstone</a:t>
            </a: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413b836a9794693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EFD6AB9A-5F9E-5F59-51AB-3C8734130965}" type="slidenum">
              <a:t>4</a:t>
            </a:fld>
          </a:p>
        </p:txBody>
      </p:sp>
      <p:sp>
        <p:nvSpPr>
          <p:cNvPr id="19" name="Title 1">
            <a:extLst xmlns:a="http://schemas.openxmlformats.org/drawingml/2006/main"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68" y="538650"/>
            <a:ext cx="10530114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Introduction</a:t>
            </a:r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97" y="2521403"/>
            <a:ext cx="5660840" cy="18984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Can Falcon 9 first-stage landing success be predicted from launch characteristics?</a:t>
            </a:r>
          </a:p>
          <a:p xmlns:a="http://schemas.openxmlformats.org/drawingml/2006/main">
            <a:pPr>
              <a:spcBef>
                <a:spcPts val="1400"/>
              </a:spcBef>
              <a:buNone/>
            </a:pPr>
          </a:p>
          <a:p xmlns:a="http://schemas.openxmlformats.org/drawingml/2006/main">
            <a:pPr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Successful recovery matters because reused first stages can reduce launch cost.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0DBFB5-D4EB-4382-A260-2C660204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GitHub repository: https://github.com/darizek-art/ibm-data-science-capstone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604b6a7222c1477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BFEC426-B615-E549-83E5-140FD588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1580808"/>
            <a:ext cx="10104817" cy="5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9365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• Collected launch, payload, booster, and launch-site data from SpaceX sources and Wikipedia tables.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1400"/>
              </a:spcBef>
              <a:buNone/>
            </a:pPr>
            <a:r>
              <a:rPr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Cleaned records, created the binary landing-success label, and prepared model features.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1400"/>
              </a:spcBef>
              <a:buNone/>
            </a:pPr>
            <a:r>
              <a:rPr>
                <a:solidFill>
                  <a:schemeClr val="bg2">
                    <a:lumMod val="50000"/>
                  </a:schemeClr>
                </a:solidFill>
                <a:latin typeface="Abadi"/>
                <a:ea typeface="Abadi"/>
                <a:cs typeface="Abadi"/>
              </a:rPr>
              <a:t>• Used visual and SQL analysis to identify relationships among payload, orbit, site, and outcomes.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1400"/>
              </a:spcBef>
              <a:buNone/>
            </a:pPr>
            <a:r>
              <a:rPr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Built and evaluated classification models using a held-out test set.</a:t>
            </a:r>
          </a:p>
        </p:txBody>
      </p:sp>
      <p:sp>
        <p:nvSpPr>
          <p:cNvPr id="13" name="Title 1">
            <a:extLst xmlns:a="http://schemas.openxmlformats.org/drawingml/2006/main"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Methodology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B77BC-56FE-48D0-BAA8-6965DDA6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GitHub repository: https://github.com/darizek-art/ibm-data-science-capstone</a:t>
            </a: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64b5f3211e504b0f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Scatter plots compared payload, flight number, launch site, and orbit type.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</a:p>
          <a:p xmlns:a="http://schemas.openxmlformats.org/drawingml/2006/main">
            <a:r>
              <a:t>Bar charts measured orbit-level landing success, while a line chart showed the yearly trend.</a:t>
            </a:r>
          </a:p>
          <a:p xmlns:a="http://schemas.openxmlformats.org/drawingml/2006/main"/>
          <a:p xmlns:a="http://schemas.openxmlformats.org/drawingml/2006/main">
            <a:r>
              <a:t>These views exposed important feature relationships before modelling.</a:t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EDA with Data Visualization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3F844-F390-4E37-B0B0-C82A22B6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GitHub repository: https://github.com/darizek-art/ibm-data-science-capstone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cdb889534ba4382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Predictive Analysis (Classification)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Standardised features and split the data into training and test sets.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Evaluated Logistic Regression, SVM, Decision Tree, and KNN classifiers.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Compared test accuracy and confusion matrices to select the strongest result.</a:t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D65AA-4632-4D1B-AC15-79F0A03F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GitHub repository: https://github.com/darizek-art/ibm-data-science-capstone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1846b5fa65840b3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770011" y="2069757"/>
            <a:ext cx="3932238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The yearly average landing-success rate trends upward as recovery operations mature.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The pattern supports including year and flight number as predictive features.</a:t>
            </a: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Launch Success Yearly Trend</a:t>
            </a:r>
          </a:p>
        </p:txBody>
      </p:sp>
      <p:pic>
        <p:nvPicPr>
          <p:cNvPr id="1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9272b56ea4b2c"/>
          <a:stretch xmlns:a="http://schemas.openxmlformats.org/drawingml/2006/main"/>
        </p:blipFill>
        <p:spPr>
          <a:xfrm xmlns:a="http://schemas.openxmlformats.org/drawingml/2006/main">
            <a:off x="5791013" y="1790700"/>
            <a:ext cx="4800974" cy="3857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FFF4B-DA2B-4B2C-BF6B-042C7232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GitHub repository: https://github.com/darizek-art/ibm-data-science-capstone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a2cba3f47042463b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SQL query filter: successful drone-ship outcomes with payload mass between 4,000 and 6,000 kg.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Result: F9 FT B1026 (4,600 kg), B1022 (4,696 kg), B1031.2 (5,200 kg), and B1021.2 (5,300 kg).</a:t>
            </a: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EDA with SQL Queries and Results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26EBB-4596-434E-AAF5-6E9EDD9C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GitHub repository: https://github.com/darizek-art/ibm-data-science-capstone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7584884652c4d5b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Green = success; red = failure.</a:t>
            </a: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Landing Outcomes by Launch Site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2E0DA-31E4-4B5F-9829-D1259C65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GitHub repository: https://github.com/darizek-art/ibm-data-science-capstone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0d6ae69164340"/>
          <a:stretch xmlns:a="http://schemas.openxmlformats.org/drawingml/2006/main"/>
        </p:blipFill>
        <p:spPr>
          <a:xfrm xmlns:a="http://schemas.openxmlformats.org/drawingml/2006/main">
            <a:off x="5602167" y="1714500"/>
            <a:ext cx="5369167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7884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8783846c0034f1a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34027" y="1825625"/>
            <a:ext cx="10551583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CCAFS SLC 40: 95% successful, 5% failed.</a:t>
            </a: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Dash: Launch-Site Success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24D98-3819-48A2-BBDA-EAC1AB0E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GitHub repository: https://github.com/darizek-art/ibm-data-science-capstone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80b1fa0874bec"/>
          <a:stretch xmlns:a="http://schemas.openxmlformats.org/drawingml/2006/main"/>
        </p:blipFill>
        <p:spPr>
          <a:xfrm xmlns:a="http://schemas.openxmlformats.org/drawingml/2006/main">
            <a:off x="5056636" y="2714625"/>
            <a:ext cx="7603228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60706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62542abf56584ba9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770010" y="2082114"/>
            <a:ext cx="5325989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Test accuracy by model: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Logistic Regression — 83.3%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Support Vector Machine — 83.3%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Decision Tree — 77.8%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K-Nearest Neighbours — 83.3%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Three models tied for the highest observed test accuracy.</a:t>
            </a:r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Predictive Analysis Results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149CD-B06E-4A05-80C9-1B4F6DCA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GitHub repository: https://github.com/darizek-art/ibm-data-science-capstone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c2a4c01824296"/>
          <a:stretch xmlns:a="http://schemas.openxmlformats.org/drawingml/2006/main"/>
        </p:blipFill>
        <p:spPr>
          <a:xfrm xmlns:a="http://schemas.openxmlformats.org/drawingml/2006/main">
            <a:off x="6577382" y="1952625"/>
            <a:ext cx="4656986" cy="3619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446073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18bf869e6a684876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</a:p>
        </p:txBody>
      </p:sp>
      <p:sp>
        <p:nvSpPr>
          <p:cNvPr id="5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1" y="1875054"/>
            <a:ext cx="5903913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Falcon 9 landing success rose as operations matured.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Launch site, orbit, payload, and flight number are informative features.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Historic landing data supported useful classification performance.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The 83.3% top test score should be interpreted cautiously because the dataset is small and the best models were tied.</a:t>
            </a:r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Conclusions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86D1F-81BD-4DC3-939E-9796ED2A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GitHub repository: https://github.com/darizek-art/ibm-data-science-capstone</a:t>
            </a: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b4b02de50df4166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690688"/>
            <a:ext cx="8597827" cy="431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Measured coast distance: 0.08 km.</a:t>
            </a: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Creativity: Folium Proximity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684DE-BDFC-40D7-B36A-BED7C6CA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GitHub repository: https://github.com/darizek-art/ibm-data-science-capstone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ef7c980ed4926"/>
          <a:stretch xmlns:a="http://schemas.openxmlformats.org/drawingml/2006/main"/>
        </p:blipFill>
        <p:spPr>
          <a:xfrm xmlns:a="http://schemas.openxmlformats.org/drawingml/2006/main">
            <a:off x="5429250" y="2012290"/>
            <a:ext cx="5715000" cy="326204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9080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e90f5ee36cf440bf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25" y="1807337"/>
            <a:ext cx="7068725" cy="16216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 fontScale="6532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Key results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Landing success in the modelling dataset: 66.7%</a:t>
            </a:r>
          </a:p>
          <a:p xmlns:a="http://schemas.openxmlformats.org/drawingml/2006/main">
            <a:pPr>
              <a:buNone/>
            </a:pPr>
            <a:r>
              <a:t>• EDA showed outcome patterns by orbit, site, payload, and time</a:t>
            </a:r>
          </a:p>
          <a:p xmlns:a="http://schemas.openxmlformats.org/drawingml/2006/main">
            <a:pPr marL="457200" indent="0">
              <a:buNone/>
            </a:pPr>
            <a:r>
              <a:t>• Interactive tools supported geographic and launch-site exploration</a:t>
            </a:r>
          </a:p>
          <a:p xmlns:a="http://schemas.openxmlformats.org/drawingml/2006/main">
            <a:pPr marL="457200" indent="0">
              <a:buNone/>
            </a:pPr>
            <a:r>
              <a:t>• Best test accuracy: 83.3%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</a:p>
        </p:txBody>
      </p:sp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Innovative Insights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213C4-5177-4DF9-9C15-672DCFC3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GitHub repository: https://github.com/darizek-art/ibm-data-science-capstone</a:t>
            </a: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2026-07-19T12:22:53.6510000Z</dcterms:created>
  <dcterms:modified xsi:type="dcterms:W3CDTF">2026-07-19T12:22:53.6510000Z</dcterms:modified>
</coreProperties>
</file>