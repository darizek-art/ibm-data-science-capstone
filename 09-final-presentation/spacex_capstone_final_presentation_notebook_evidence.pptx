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aa121589f4dba" /><Relationship Type="http://schemas.openxmlformats.org/officeDocument/2006/relationships/extended-properties" Target="/docProps/app.xml" Id="Rc444b379cd054789" /><Relationship Type="http://schemas.openxmlformats.org/officeDocument/2006/relationships/officeDocument" Target="/ppt/presentation.xml" Id="R7b98a5ab7715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8d2a11bcc4e3d"/>
  </p:sldMasterIdLst>
  <p:notesMasterIdLst>
    <p:notesMasterId xmlns:r="http://schemas.openxmlformats.org/officeDocument/2006/relationships" r:id="R53b38fe5cd7f4e86"/>
  </p:notesMasterIdLst>
  <p:sldIdLst>
    <p:sldId xmlns:r="http://schemas.openxmlformats.org/officeDocument/2006/relationships" id="256" r:id="Rad02ac048b1b4a3d"/>
    <p:sldId xmlns:r="http://schemas.openxmlformats.org/officeDocument/2006/relationships" id="257" r:id="R2b4b59234eb048bb"/>
    <p:sldId xmlns:r="http://schemas.openxmlformats.org/officeDocument/2006/relationships" id="258" r:id="R80f8abdf5f254a12"/>
    <p:sldId xmlns:r="http://schemas.openxmlformats.org/officeDocument/2006/relationships" id="259" r:id="R4f4cc0ae105c4233"/>
    <p:sldId xmlns:r="http://schemas.openxmlformats.org/officeDocument/2006/relationships" id="260" r:id="R7c0b0f82f4544412"/>
    <p:sldId xmlns:r="http://schemas.openxmlformats.org/officeDocument/2006/relationships" id="261" r:id="R0671deca14e34547"/>
    <p:sldId xmlns:r="http://schemas.openxmlformats.org/officeDocument/2006/relationships" id="262" r:id="R386123c4e65b4326"/>
    <p:sldId xmlns:r="http://schemas.openxmlformats.org/officeDocument/2006/relationships" id="263" r:id="R79a2f6b605154326"/>
    <p:sldId xmlns:r="http://schemas.openxmlformats.org/officeDocument/2006/relationships" id="264" r:id="Raf804df1538e4609"/>
    <p:sldId xmlns:r="http://schemas.openxmlformats.org/officeDocument/2006/relationships" id="265" r:id="Rce85a1a42a884ad3"/>
    <p:sldId xmlns:r="http://schemas.openxmlformats.org/officeDocument/2006/relationships" id="266" r:id="Rc11e47d28a4b4008"/>
    <p:sldId xmlns:r="http://schemas.openxmlformats.org/officeDocument/2006/relationships" id="267" r:id="R6210ba6654dc4461"/>
    <p:sldId xmlns:r="http://schemas.openxmlformats.org/officeDocument/2006/relationships" id="268" r:id="R75d75d0fca29462a"/>
    <p:sldId xmlns:r="http://schemas.openxmlformats.org/officeDocument/2006/relationships" id="269" r:id="R356f06ee943946ae"/>
    <p:sldId xmlns:r="http://schemas.openxmlformats.org/officeDocument/2006/relationships" id="270" r:id="R4dcf37a6c4424b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63a51a5b15408a" /><Relationship Type="http://schemas.openxmlformats.org/officeDocument/2006/relationships/slideMaster" Target="/ppt/slideMasters/slideMaster1.xml" Id="Rcfd8d2a11bcc4e3d" /><Relationship Type="http://schemas.openxmlformats.org/officeDocument/2006/relationships/notesMaster" Target="/ppt/notesMasters/notesMaster1.xml" Id="R53b38fe5cd7f4e86" /><Relationship Type="http://schemas.openxmlformats.org/officeDocument/2006/relationships/presProps" Target="/ppt/presProps.xml" Id="R93ecbae3c9664c34" /><Relationship Type="http://schemas.openxmlformats.org/officeDocument/2006/relationships/viewProps" Target="/ppt/viewProps.xml" Id="R9519bc16674c4a13" /><Relationship Type="http://schemas.openxmlformats.org/officeDocument/2006/relationships/tableStyles" Target="/ppt/tableStyles.xml" Id="R0d526a34b2f149c8" /><Relationship Type="http://schemas.openxmlformats.org/officeDocument/2006/relationships/slide" Target="/ppt/slides/slide1.xml" Id="Rad02ac048b1b4a3d" /><Relationship Type="http://schemas.openxmlformats.org/officeDocument/2006/relationships/slide" Target="/ppt/slides/slide2.xml" Id="R2b4b59234eb048bb" /><Relationship Type="http://schemas.openxmlformats.org/officeDocument/2006/relationships/slide" Target="/ppt/slides/slide3.xml" Id="R80f8abdf5f254a12" /><Relationship Type="http://schemas.openxmlformats.org/officeDocument/2006/relationships/slide" Target="/ppt/slides/slide4.xml" Id="R4f4cc0ae105c4233" /><Relationship Type="http://schemas.openxmlformats.org/officeDocument/2006/relationships/slide" Target="/ppt/slides/slide5.xml" Id="R7c0b0f82f4544412" /><Relationship Type="http://schemas.openxmlformats.org/officeDocument/2006/relationships/slide" Target="/ppt/slides/slide6.xml" Id="R0671deca14e34547" /><Relationship Type="http://schemas.openxmlformats.org/officeDocument/2006/relationships/slide" Target="/ppt/slides/slide7.xml" Id="R386123c4e65b4326" /><Relationship Type="http://schemas.openxmlformats.org/officeDocument/2006/relationships/slide" Target="/ppt/slides/slide8.xml" Id="R79a2f6b605154326" /><Relationship Type="http://schemas.openxmlformats.org/officeDocument/2006/relationships/slide" Target="/ppt/slides/slide9.xml" Id="Raf804df1538e4609" /><Relationship Type="http://schemas.openxmlformats.org/officeDocument/2006/relationships/slide" Target="/ppt/slides/slide10.xml" Id="Rce85a1a42a884ad3" /><Relationship Type="http://schemas.openxmlformats.org/officeDocument/2006/relationships/slide" Target="/ppt/slides/slide11.xml" Id="Rc11e47d28a4b4008" /><Relationship Type="http://schemas.openxmlformats.org/officeDocument/2006/relationships/slide" Target="/ppt/slides/slide12.xml" Id="R6210ba6654dc4461" /><Relationship Type="http://schemas.openxmlformats.org/officeDocument/2006/relationships/slide" Target="/ppt/slides/slide13.xml" Id="R75d75d0fca29462a" /><Relationship Type="http://schemas.openxmlformats.org/officeDocument/2006/relationships/slide" Target="/ppt/slides/slide14.xml" Id="R356f06ee943946ae" /><Relationship Type="http://schemas.openxmlformats.org/officeDocument/2006/relationships/slide" Target="/ppt/slides/slide15.xml" Id="R4dcf37a6c4424b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0a3123ab944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01dd0f805d4022" /><Relationship Type="http://schemas.openxmlformats.org/officeDocument/2006/relationships/notesMaster" Target="/ppt/notesMasters/notesMaster1.xml" Id="R0b8f10ee8fe9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b2a30fd074ee4" /><Relationship Type="http://schemas.openxmlformats.org/officeDocument/2006/relationships/notesMaster" Target="/ppt/notesMasters/notesMaster1.xml" Id="R86b11e27f93649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37d11a2586479a" /><Relationship Type="http://schemas.openxmlformats.org/officeDocument/2006/relationships/notesMaster" Target="/ppt/notesMasters/notesMaster1.xml" Id="R3a1f43fbcad04f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0196c4d18454e" /><Relationship Type="http://schemas.openxmlformats.org/officeDocument/2006/relationships/notesMaster" Target="/ppt/notesMasters/notesMaster1.xml" Id="Rb3576e8063484c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2aa3bcaad4d39" /><Relationship Type="http://schemas.openxmlformats.org/officeDocument/2006/relationships/notesMaster" Target="/ppt/notesMasters/notesMaster1.xml" Id="R0090afb2540d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222d06fc3e4249" /><Relationship Type="http://schemas.openxmlformats.org/officeDocument/2006/relationships/notesMaster" Target="/ppt/notesMasters/notesMaster1.xml" Id="R718abd8e94314f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aa86101e84511" /><Relationship Type="http://schemas.openxmlformats.org/officeDocument/2006/relationships/notesMaster" Target="/ppt/notesMasters/notesMaster1.xml" Id="Rc07bf1bb4c364c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1d4ab54804162" /><Relationship Type="http://schemas.openxmlformats.org/officeDocument/2006/relationships/notesMaster" Target="/ppt/notesMasters/notesMaster1.xml" Id="R2937d60068c34a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dad5451a924d79" /><Relationship Type="http://schemas.openxmlformats.org/officeDocument/2006/relationships/notesMaster" Target="/ppt/notesMasters/notesMaster1.xml" Id="Rad6f5e5993fc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d165792b1e4157" /><Relationship Type="http://schemas.openxmlformats.org/officeDocument/2006/relationships/notesMaster" Target="/ppt/notesMasters/notesMaster1.xml" Id="R0e2bd507701046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2fd7b704ff47b3" /><Relationship Type="http://schemas.openxmlformats.org/officeDocument/2006/relationships/notesMaster" Target="/ppt/notesMasters/notesMaster1.xml" Id="R36a34066234340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87d04e8dec454f" /><Relationship Type="http://schemas.openxmlformats.org/officeDocument/2006/relationships/notesMaster" Target="/ppt/notesMasters/notesMaster1.xml" Id="Rbc3c4711b67740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2f916bb82b4484" /><Relationship Type="http://schemas.openxmlformats.org/officeDocument/2006/relationships/notesMaster" Target="/ppt/notesMasters/notesMaster1.xml" Id="R2157cd10de8945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467e1fda86450d" /><Relationship Type="http://schemas.openxmlformats.org/officeDocument/2006/relationships/notesMaster" Target="/ppt/notesMasters/notesMaster1.xml" Id="R150dfdfb3a3245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098822124c4f54" /><Relationship Type="http://schemas.openxmlformats.org/officeDocument/2006/relationships/notesMaster" Target="/ppt/notesMasters/notesMaster1.xml" Id="R46a82f9e8155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7db668d7945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6682e1c4a48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be340283c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4e7055d5846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d1998e01c42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c5e966eed4a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244b51bd14d2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7525fc6814b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46819348b4b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8c8aee54749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46f4d953644d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7dc33cca64d7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08a20e11413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E4E5C39-FE1E-4048-9E78-68F07A4195FB}" type="datetimeFigureOut">
              <a:t>7/19/2026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143833A4-0BA8-4893-90F5-2490ED19807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D34E64-B344-4CDD-89AE-B43FBEF37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b07a9305943d0" /><Relationship Type="http://schemas.openxmlformats.org/officeDocument/2006/relationships/slideLayout" Target="/ppt/slideLayouts/slideLayout1.xml" Id="Rc9290b5ac5044e18" /><Relationship Type="http://schemas.openxmlformats.org/officeDocument/2006/relationships/slideLayout" Target="/ppt/slideLayouts/slideLayout2.xml" Id="R11ffd75ebf3d4e0f" /><Relationship Type="http://schemas.openxmlformats.org/officeDocument/2006/relationships/slideLayout" Target="/ppt/slideLayouts/slideLayout3.xml" Id="R5bff5c5727b14ba0" /><Relationship Type="http://schemas.openxmlformats.org/officeDocument/2006/relationships/slideLayout" Target="/ppt/slideLayouts/slideLayout4.xml" Id="R4f4eacfa246f4b77" /><Relationship Type="http://schemas.openxmlformats.org/officeDocument/2006/relationships/slideLayout" Target="/ppt/slideLayouts/slideLayout5.xml" Id="Rb6194567351241ea" /><Relationship Type="http://schemas.openxmlformats.org/officeDocument/2006/relationships/slideLayout" Target="/ppt/slideLayouts/slideLayout6.xml" Id="R656fd74e83df42c9" /><Relationship Type="http://schemas.openxmlformats.org/officeDocument/2006/relationships/slideLayout" Target="/ppt/slideLayouts/slideLayout7.xml" Id="R6229391c8b5a412b" /><Relationship Type="http://schemas.openxmlformats.org/officeDocument/2006/relationships/slideLayout" Target="/ppt/slideLayouts/slideLayout8.xml" Id="R1952c2ec8eda42de" /><Relationship Type="http://schemas.openxmlformats.org/officeDocument/2006/relationships/slideLayout" Target="/ppt/slideLayouts/slideLayout9.xml" Id="R7f6875d1e64340c1" /><Relationship Type="http://schemas.openxmlformats.org/officeDocument/2006/relationships/slideLayout" Target="/ppt/slideLayouts/slideLayout10.xml" Id="Rb2a846351e034c20" /><Relationship Type="http://schemas.openxmlformats.org/officeDocument/2006/relationships/slideLayout" Target="/ppt/slideLayouts/slideLayout11.xml" Id="R0a981c81253a408b" /><Relationship Type="http://schemas.openxmlformats.org/officeDocument/2006/relationships/slideLayout" Target="/ppt/slideLayouts/slideLayout12.xml" Id="Rc29c6bdf92a84628" /><Relationship Type="http://schemas.openxmlformats.org/officeDocument/2006/relationships/slideLayout" Target="/ppt/slideLayouts/slideLayout13.xml" Id="Rb270f144812e48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14772" y="6025573"/>
            <a:ext cx="2743200" cy="401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600">
                <a:solidFill>
                  <a:srgbClr val="1C7DDB"/>
                </a:solidFill>
                <a:latin typeface="Abadi"/>
                <a:ea typeface="Abadi"/>
                <a:cs typeface="Abadi"/>
              </a:defRPr>
            </a:lvl1pPr>
          </a:lstStyle>
          <a:p xmlns:a="http://schemas.openxmlformats.org/drawingml/2006/main">
            <a:fld id="{A190C97C-0095-2443-AC12-FA4CBA4ACD4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90b5ac5044e18"/>
    <p:sldLayoutId xmlns:r="http://schemas.openxmlformats.org/officeDocument/2006/relationships" id="2147483650" r:id="R11ffd75ebf3d4e0f"/>
    <p:sldLayoutId xmlns:r="http://schemas.openxmlformats.org/officeDocument/2006/relationships" id="2147483651" r:id="R5bff5c5727b14ba0"/>
    <p:sldLayoutId xmlns:r="http://schemas.openxmlformats.org/officeDocument/2006/relationships" id="2147483652" r:id="R4f4eacfa246f4b77"/>
    <p:sldLayoutId xmlns:r="http://schemas.openxmlformats.org/officeDocument/2006/relationships" id="2147483653" r:id="Rb6194567351241ea"/>
    <p:sldLayoutId xmlns:r="http://schemas.openxmlformats.org/officeDocument/2006/relationships" id="2147483654" r:id="R656fd74e83df42c9"/>
    <p:sldLayoutId xmlns:r="http://schemas.openxmlformats.org/officeDocument/2006/relationships" id="2147483655" r:id="R6229391c8b5a412b"/>
    <p:sldLayoutId xmlns:r="http://schemas.openxmlformats.org/officeDocument/2006/relationships" id="2147483656" r:id="R1952c2ec8eda42de"/>
    <p:sldLayoutId xmlns:r="http://schemas.openxmlformats.org/officeDocument/2006/relationships" id="2147483657" r:id="R7f6875d1e64340c1"/>
    <p:sldLayoutId xmlns:r="http://schemas.openxmlformats.org/officeDocument/2006/relationships" id="2147483658" r:id="Rb2a846351e034c20"/>
    <p:sldLayoutId xmlns:r="http://schemas.openxmlformats.org/officeDocument/2006/relationships" id="2147483659" r:id="R0a981c81253a408b"/>
    <p:sldLayoutId xmlns:r="http://schemas.openxmlformats.org/officeDocument/2006/relationships" id="2147483660" r:id="Rc29c6bdf92a84628"/>
    <p:sldLayoutId xmlns:r="http://schemas.openxmlformats.org/officeDocument/2006/relationships" id="2147483661" r:id="Rb270f144812e483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4771fd9fb4a73" /><Relationship Type="http://schemas.openxmlformats.org/officeDocument/2006/relationships/image" Target="/ppt/media/image.png" Id="R9efffe8ad3ef483c" /><Relationship Type="http://schemas.openxmlformats.org/officeDocument/2006/relationships/notesSlide" Target="/ppt/notesSlides/notesSlide1.xml" Id="R1e1fe5f084da42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ed1ccb80384845" /><Relationship Type="http://schemas.openxmlformats.org/officeDocument/2006/relationships/image" Target="/ppt/media/image.jpeg" Id="R29189a77fb2142d0" /><Relationship Type="http://schemas.openxmlformats.org/officeDocument/2006/relationships/image" Target="/ppt/media/image2.png" Id="Rc73129ea3702496f" /><Relationship Type="http://schemas.openxmlformats.org/officeDocument/2006/relationships/notesSlide" Target="/ppt/notesSlides/notesSlide2.xml" Id="Rf4dbe7e09b0940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d2c77eac451f" /><Relationship Type="http://schemas.openxmlformats.org/officeDocument/2006/relationships/image" Target="/ppt/media/image.png" Id="Rfc75dc0841a84c4c" /><Relationship Type="http://schemas.openxmlformats.org/officeDocument/2006/relationships/notesSlide" Target="/ppt/notesSlides/notesSlide3.xml" Id="Re47e56ae0a4748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b5d85264c4588" /><Relationship Type="http://schemas.openxmlformats.org/officeDocument/2006/relationships/image" Target="/ppt/media/image.png" Id="R3ac25a6632ce4a6f" /><Relationship Type="http://schemas.openxmlformats.org/officeDocument/2006/relationships/notesSlide" Target="/ppt/notesSlides/notesSlide4.xml" Id="R2da78e35a85648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56f18d5b40f2" /><Relationship Type="http://schemas.openxmlformats.org/officeDocument/2006/relationships/image" Target="/ppt/media/image.png" Id="Rc607c66cddeb4daf" /><Relationship Type="http://schemas.openxmlformats.org/officeDocument/2006/relationships/notesSlide" Target="/ppt/notesSlides/notesSlide5.xml" Id="R95fe3cf685b8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0f719bb954741" /><Relationship Type="http://schemas.openxmlformats.org/officeDocument/2006/relationships/image" Target="/ppt/media/image.png" Id="R3d189959af7e4f72" /><Relationship Type="http://schemas.openxmlformats.org/officeDocument/2006/relationships/notesSlide" Target="/ppt/notesSlides/notesSlide6.xml" Id="R740909ac475c4c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478d62b40470c" /><Relationship Type="http://schemas.openxmlformats.org/officeDocument/2006/relationships/image" Target="/ppt/media/image.png" Id="R2374a5bb072c4973" /><Relationship Type="http://schemas.openxmlformats.org/officeDocument/2006/relationships/notesSlide" Target="/ppt/notesSlides/notesSlide7.xml" Id="Rc6ca7b5142ce4e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8dcbeb94b47df" /><Relationship Type="http://schemas.openxmlformats.org/officeDocument/2006/relationships/image" Target="/ppt/media/image.png" Id="R2a087ac3f05847d9" /><Relationship Type="http://schemas.openxmlformats.org/officeDocument/2006/relationships/image" Target="/ppt/media/image3.png" Id="Rdc1c3bad64234b63" /><Relationship Type="http://schemas.openxmlformats.org/officeDocument/2006/relationships/notesSlide" Target="/ppt/notesSlides/notesSlide8.xml" Id="R17940afef14e49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1dfa7887f4d2b" /><Relationship Type="http://schemas.openxmlformats.org/officeDocument/2006/relationships/image" Target="/ppt/media/image.png" Id="Rb5acf0d13e254496" /><Relationship Type="http://schemas.openxmlformats.org/officeDocument/2006/relationships/notesSlide" Target="/ppt/notesSlides/notesSlide9.xml" Id="Rca05b65663cb40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67de824db4122" /><Relationship Type="http://schemas.openxmlformats.org/officeDocument/2006/relationships/image" Target="/ppt/media/image.png" Id="R7ff3e98c0e704592" /><Relationship Type="http://schemas.openxmlformats.org/officeDocument/2006/relationships/image" Target="/ppt/media/image4.png" Id="Rfa997203cb2b4408" /><Relationship Type="http://schemas.openxmlformats.org/officeDocument/2006/relationships/notesSlide" Target="/ppt/notesSlides/notesSlide10.xml" Id="Rf9a2bf9d432445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e3526d1b44bb5" /><Relationship Type="http://schemas.openxmlformats.org/officeDocument/2006/relationships/image" Target="/ppt/media/image.png" Id="R4d1e05c0babc44ff" /><Relationship Type="http://schemas.openxmlformats.org/officeDocument/2006/relationships/image" Target="/ppt/media/image5.png" Id="Rbca36e818d52492c" /><Relationship Type="http://schemas.openxmlformats.org/officeDocument/2006/relationships/notesSlide" Target="/ppt/notesSlides/notesSlide11.xml" Id="R9c8bca01b50245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b809d6cc844d3" /><Relationship Type="http://schemas.openxmlformats.org/officeDocument/2006/relationships/image" Target="/ppt/media/image.png" Id="R93d413bb377c4174" /><Relationship Type="http://schemas.openxmlformats.org/officeDocument/2006/relationships/image" Target="/ppt/media/image6.png" Id="R8388e056df674d7f" /><Relationship Type="http://schemas.openxmlformats.org/officeDocument/2006/relationships/notesSlide" Target="/ppt/notesSlides/notesSlide12.xml" Id="R9b339a0ceb6e4c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d013a50624120" /><Relationship Type="http://schemas.openxmlformats.org/officeDocument/2006/relationships/image" Target="/ppt/media/image.png" Id="Rb4fbc68856df40aa" /><Relationship Type="http://schemas.openxmlformats.org/officeDocument/2006/relationships/notesSlide" Target="/ppt/notesSlides/notesSlide13.xml" Id="R8d14dfe7040344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bd59180e64217" /><Relationship Type="http://schemas.openxmlformats.org/officeDocument/2006/relationships/image" Target="/ppt/media/image.png" Id="Rf170ecca49c141f4" /><Relationship Type="http://schemas.openxmlformats.org/officeDocument/2006/relationships/image" Target="/ppt/media/image7.png" Id="R9d81ffe7d2db4279" /><Relationship Type="http://schemas.openxmlformats.org/officeDocument/2006/relationships/notesSlide" Target="/ppt/notesSlides/notesSlide14.xml" Id="R7b170ce1d49847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c6e57e01842ed" /><Relationship Type="http://schemas.openxmlformats.org/officeDocument/2006/relationships/image" Target="/ppt/media/image.png" Id="R6f8b4772db8d4584" /><Relationship Type="http://schemas.openxmlformats.org/officeDocument/2006/relationships/notesSlide" Target="/ppt/notesSlides/notesSlide15.xml" Id="R7cabd2a0f21c4e5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efffe8ad3ef483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59522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Completed repository artefacts: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</a:t>
            </a: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01_spacex_api_data_collection.ipynb • spacex_web_scraping.ipynb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</a:t>
            </a: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spacex_data_wrangling.ipynb • spacex_eda_visualization.ipynb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</a:t>
            </a: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spacex_eda_sql.ipynb • lab_jupyter_launch_site_location.ipynb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</a:t>
            </a: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spacex_dash_app.py • spacex_machine_learning.ipynb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All eight files contain completed code and/or saved outputs.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GitHub Repository and Completed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D2E20-4416-42DB-B355-6E5551A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all eight completed files listed above</a:t>
            </a: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189a77fb2142d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546" y="4568734"/>
            <a:ext cx="25146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Final PDF Presentation</a:t>
            </a:r>
          </a:p>
          <a:p xmlns:a="http://schemas.openxmlformats.org/drawingml/2006/main">
            <a:r>
              <a:rPr>
                <a:solidFill>
                  <a:schemeClr val="bg2"/>
                </a:solidFill>
                <a:latin typeface="Abadi"/>
                <a:ea typeface="Abadi"/>
                <a:cs typeface="Abadi"/>
              </a:rPr>
              <a:t>Jack • July 2026</a:t>
            </a: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129ea370249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820" y="676828"/>
            <a:ext cx="2104103" cy="6291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3D00-886E-4C2B-A6E2-624D025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Repo: github.com/darizek-art/ibm-data-science-capstone | Evidence source: final presentation PDF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c75dc0841a84c4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202359C0-8A7A-196E-DD58-8E6569619F09}" type="slidenum">
              <a:t>3</a:t>
            </a:fld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03" y="2684972"/>
            <a:ext cx="4017889" cy="1039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4714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A data-driven assessment of Falcon 9 first-stage recovery.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Historic data show a 66.7% landing-success rate in the predictive dataset.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Three classifiers tied for the highest test accuracy: 83.3%.</a:t>
            </a:r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Executive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69DDC-DFB9-4B4C-8B0A-194E2F9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spacex_data_wrangling.ipynb + spacex_machine_learning.ipynb</a:t>
            </a: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ac25a6632ce4a6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fld id="{EFD6AB9A-5F9E-5F59-51AB-3C8734130965}" type="slidenum">
              <a:t>4</a:t>
            </a:fld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68" y="538650"/>
            <a:ext cx="10530114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Introduction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7" y="2521403"/>
            <a:ext cx="5660840" cy="1898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Can Falcon 9 first-stage landing success be predicted from launch characteristics?</a:t>
            </a:r>
          </a:p>
          <a:p xmlns:a="http://schemas.openxmlformats.org/drawingml/2006/main">
            <a:pPr>
              <a:spcBef>
                <a:spcPts val="1400"/>
              </a:spcBef>
              <a:buNone/>
            </a:pPr>
          </a:p>
          <a:p xmlns:a="http://schemas.openxmlformats.org/drawingml/2006/main">
            <a:pPr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Successful recovery matters because reused first stages can reduce launch cost.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DBFB5-D4EB-4382-A260-2C66020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01_spacex_api_data_collection.ipynb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607c66cddeb4da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1580808"/>
            <a:ext cx="10104817" cy="5211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9365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• Collected launch, payload, booster, and launch-site data from SpaceX sources and Wikipedia tables.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Cleaned records, created the binary landing-success label, and prepared model features.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bg2">
                    <a:lumMod val="50000"/>
                  </a:schemeClr>
                </a:solidFill>
                <a:latin typeface="Abadi"/>
                <a:ea typeface="Abadi"/>
                <a:cs typeface="Abadi"/>
              </a:rPr>
              <a:t>• Used visual and SQL analysis to identify relationships among payload, orbit, site, and outcomes.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1400"/>
              </a:spcBef>
              <a:buNone/>
            </a:pPr>
            <a:r>
              <a:rPr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Built and evaluated classification models using a held-out test set.</a:t>
            </a:r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Methodology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B77BC-56FE-48D0-BAA8-6965DDA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collection, scraping, and wrangling notebooks listed on slide 1</a:t>
            </a: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d189959af7e4f7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Scatter plots compared payload, flight number, launch site, and orbit type.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r>
              <a:t>Bar charts measured orbit-level landing success, while a line chart showed the yearly trend.</a:t>
            </a:r>
          </a:p>
          <a:p xmlns:a="http://schemas.openxmlformats.org/drawingml/2006/main"/>
          <a:p xmlns:a="http://schemas.openxmlformats.org/drawingml/2006/main">
            <a:r>
              <a:t>These views exposed important feature relationships before modelling.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Data Visualization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F844-F390-4E37-B0B0-C82A22B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spacex_eda_visualization.ipynb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374a5bb072c497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Predictive Analysis (Classification)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Standardised features and split the data into training and test sets.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Evaluated Logistic Regression, SVM, Decision Tree, and KNN classifiers.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Compared test accuracy and confusion matrices to select the strongest result.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D65AA-4632-4D1B-AC15-79F0A03F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spacex_machine_learning.ipynb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a087ac3f05847d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1" y="2069757"/>
            <a:ext cx="3932238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The yearly average landing-success rate trends upward as recovery operations mature.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The pattern supports including year and flight number as predictive features.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Launch Success Yearly Trend</a:t>
            </a:r>
          </a:p>
        </p:txBody>
      </p:sp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c3bad64234b63"/>
          <a:stretch xmlns:a="http://schemas.openxmlformats.org/drawingml/2006/main"/>
        </p:blipFill>
        <p:spPr>
          <a:xfrm xmlns:a="http://schemas.openxmlformats.org/drawingml/2006/main">
            <a:off x="5791013" y="1790700"/>
            <a:ext cx="4800974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FFF4B-DA2B-4B2C-BF6B-042C7232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spacex_eda_visualization.ipynb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5acf0d13e25449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SQL query filter: successful drone-ship outcomes with payload mass between 4,000 and 6,000 kg.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Result: F9 FT B1026 (4,600 kg), B1022 (4,696 kg), B1031.2 (5,200 kg), and B1021.2 (5,300 kg).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EDA with SQL Queries and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26EBB-4596-434E-AAF5-6E9EDD9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spacex_eda_sql.ipynb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ff3e98c0e70459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825625"/>
            <a:ext cx="9745589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Green = success; red = failure.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Landing Outcomes by Launch 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2E0DA-31E4-4B5F-9829-D1259C65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lab_jupyter_launch_site_location.ipynb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97203cb2b4408"/>
          <a:stretch xmlns:a="http://schemas.openxmlformats.org/drawingml/2006/main"/>
        </p:blipFill>
        <p:spPr>
          <a:xfrm xmlns:a="http://schemas.openxmlformats.org/drawingml/2006/main">
            <a:off x="5602167" y="1714500"/>
            <a:ext cx="5369167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7884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d1e05c0babc44f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34027" y="1825625"/>
            <a:ext cx="1055158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CCAFS SLC 40: 95% successful, 5% failed.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Dash: Launch-Site Success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4D98-3819-48A2-BBDA-EAC1AB0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spacex_dash_app.py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36e818d52492c"/>
          <a:stretch xmlns:a="http://schemas.openxmlformats.org/drawingml/2006/main"/>
        </p:blipFill>
        <p:spPr>
          <a:xfrm xmlns:a="http://schemas.openxmlformats.org/drawingml/2006/main">
            <a:off x="5056636" y="2714625"/>
            <a:ext cx="760322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070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3d413bb377c417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770010" y="2082114"/>
            <a:ext cx="5325989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Test accuracy by model: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Logistic Regression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Support Vector Machine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Decision Tree — 77.8%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K-Nearest Neighbours — 83.3%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Three models tied for the highest observed test accuracy.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Predictive Analysis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149CD-B06E-4A05-80C9-1B4F6DC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spacex_machine_learning.ipynb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8e056df674d7f"/>
          <a:stretch xmlns:a="http://schemas.openxmlformats.org/drawingml/2006/main"/>
        </p:blipFill>
        <p:spPr>
          <a:xfrm xmlns:a="http://schemas.openxmlformats.org/drawingml/2006/main">
            <a:off x="6577382" y="1952625"/>
            <a:ext cx="4656986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6073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4fbc68856df40a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5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1" y="1875054"/>
            <a:ext cx="5903913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Falcon 9 landing success rose as operations matured.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Launch site, orbit, payload, and flight number are informative features.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Historic landing data supported useful classification performance.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The 83.3% top test score should be interpreted cautiously because the dataset is small and the best models were tied.</a:t>
            </a:r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Conclusions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86D1F-81BD-4DC3-939E-9796ED2A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completed analysis files listed on slide 1</a:t>
            </a: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170ecca49c141f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70010" y="1690688"/>
            <a:ext cx="8597827" cy="431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Measured coast distance: 0.08 km.</a:t>
            </a:r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Creativity: Folium Proximity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684DE-BDFC-40D7-B36A-BED7C6C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lab_jupyter_launch_site_location.ipynb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1ffe7d2db4279"/>
          <a:stretch xmlns:a="http://schemas.openxmlformats.org/drawingml/2006/main"/>
        </p:blipFill>
        <p:spPr>
          <a:xfrm xmlns:a="http://schemas.openxmlformats.org/drawingml/2006/main">
            <a:off x="5429250" y="2012290"/>
            <a:ext cx="5715000" cy="32620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908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f8b4772db8d458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25" y="1807337"/>
            <a:ext cx="7068725" cy="16216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6532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Key results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1400"/>
              </a:spcBef>
              <a:buNone/>
            </a:pPr>
            <a:r>
              <a:rPr sz="2200">
                <a:solidFill>
                  <a:schemeClr val="accent3">
                    <a:lumMod val="25000"/>
                  </a:schemeClr>
                </a:solidFill>
                <a:latin typeface="Abadi"/>
                <a:ea typeface="Abadi"/>
                <a:cs typeface="Abadi"/>
              </a:rPr>
              <a:t>• Landing success in the modelling dataset: 66.7%</a:t>
            </a:r>
          </a:p>
          <a:p xmlns:a="http://schemas.openxmlformats.org/drawingml/2006/main">
            <a:pPr>
              <a:buNone/>
            </a:pPr>
            <a:r>
              <a:t>• EDA showed outcome patterns by orbit, site, payload, and time</a:t>
            </a:r>
          </a:p>
          <a:p xmlns:a="http://schemas.openxmlformats.org/drawingml/2006/main">
            <a:pPr marL="457200" indent="0">
              <a:buNone/>
            </a:pPr>
            <a:r>
              <a:t>• Interactive tools supported geographic and launch-site exploration</a:t>
            </a:r>
          </a:p>
          <a:p xmlns:a="http://schemas.openxmlformats.org/drawingml/2006/main">
            <a:pPr marL="457200" indent="0">
              <a:buNone/>
            </a:pPr>
            <a:r>
              <a:t>• Best test accuracy: 83.3%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11" y="538650"/>
            <a:ext cx="10515600" cy="5490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3408" lnSpcReduction="20000"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</a:defRPr>
            </a:lvl1pPr>
          </a:lstStyle>
          <a:p xmlns:a="http://schemas.openxmlformats.org/drawingml/2006/main">
            <a:r>
              <a:rPr>
                <a:solidFill>
                  <a:srgbClr val="0B49CB"/>
                </a:solidFill>
                <a:latin typeface="Abadi"/>
                <a:ea typeface="Abadi"/>
                <a:cs typeface="Abadi"/>
              </a:rPr>
              <a:t>Innovative Insights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213C4-5177-4DF9-9C15-672DCFC3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005493"/>
                </a:solidFill>
              </a:defRPr>
            </a:pPr>
            <a:r>
              <a:rPr sz="900">
                <a:solidFill>
                  <a:srgbClr val="005493"/>
                </a:solidFill>
              </a:rPr>
              <a:t>Repo: github.com/darizek-art/ibm-data-science-capstone | Evidence source: EDA, SQL, and machine-learning notebooks listed on slide 1</a:t>
            </a: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2026-07-19T20:24:28.6200000Z</dcterms:created>
  <dcterms:modified xsi:type="dcterms:W3CDTF">2026-07-19T20:24:28.6200000Z</dcterms:modified>
</coreProperties>
</file>